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21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4" d="100"/>
          <a:sy n="84" d="100"/>
        </p:scale>
        <p:origin x="21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4" d="100"/>
          <a:sy n="54" d="100"/>
        </p:scale>
        <p:origin x="289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6A5A961-01FC-4D0D-99CA-FCB2D5EF4E5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81D0EF-CF4A-406E-A851-C46598E0BDE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93DDBA-F905-4812-9C4A-30650223A696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8249A8-6033-4792-A4CF-7CDB71F755D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5FB31F-6E19-46A2-A6D6-0AB5C50C5CB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B0E5D3-F185-454F-8EFD-35359A84D8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3619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30080-4E1E-4685-84AD-67B48865E577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7DDB2-87C3-4B7B-B9CE-1BE64E1ED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243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30080-4E1E-4685-84AD-67B48865E577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7DDB2-87C3-4B7B-B9CE-1BE64E1ED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585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30080-4E1E-4685-84AD-67B48865E577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7DDB2-87C3-4B7B-B9CE-1BE64E1ED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454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30080-4E1E-4685-84AD-67B48865E577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7DDB2-87C3-4B7B-B9CE-1BE64E1ED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136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30080-4E1E-4685-84AD-67B48865E577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7DDB2-87C3-4B7B-B9CE-1BE64E1ED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907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30080-4E1E-4685-84AD-67B48865E577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7DDB2-87C3-4B7B-B9CE-1BE64E1ED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385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30080-4E1E-4685-84AD-67B48865E577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7DDB2-87C3-4B7B-B9CE-1BE64E1ED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79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30080-4E1E-4685-84AD-67B48865E577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7DDB2-87C3-4B7B-B9CE-1BE64E1ED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254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30080-4E1E-4685-84AD-67B48865E577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7DDB2-87C3-4B7B-B9CE-1BE64E1ED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059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30080-4E1E-4685-84AD-67B48865E577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7DDB2-87C3-4B7B-B9CE-1BE64E1ED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811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30080-4E1E-4685-84AD-67B48865E577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7DDB2-87C3-4B7B-B9CE-1BE64E1ED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4807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30080-4E1E-4685-84AD-67B48865E577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7DDB2-87C3-4B7B-B9CE-1BE64E1ED91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031113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30080-4E1E-4685-84AD-67B48865E577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7DDB2-87C3-4B7B-B9CE-1BE64E1ED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906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30080-4E1E-4685-84AD-67B48865E577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7DDB2-87C3-4B7B-B9CE-1BE64E1ED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1572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30080-4E1E-4685-84AD-67B48865E577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7DDB2-87C3-4B7B-B9CE-1BE64E1ED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7166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30080-4E1E-4685-84AD-67B48865E577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7DDB2-87C3-4B7B-B9CE-1BE64E1ED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0560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30080-4E1E-4685-84AD-67B48865E577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7DDB2-87C3-4B7B-B9CE-1BE64E1ED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097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A030080-4E1E-4685-84AD-67B48865E577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67DDB2-87C3-4B7B-B9CE-1BE64E1ED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5186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1B61B-AFD1-4B1F-B76D-9089076B74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Customer Churn Analysis: ABC Communications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C86927-5783-41C0-90C5-A9E8C05F0D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AnalystLab</a:t>
            </a:r>
            <a:r>
              <a:rPr lang="en-US" dirty="0"/>
              <a:t> Africa – Data Analytics Internship </a:t>
            </a:r>
            <a:r>
              <a:rPr lang="en-US" dirty="0" err="1"/>
              <a:t>Omolade</a:t>
            </a:r>
            <a:r>
              <a:rPr lang="en-US" dirty="0"/>
              <a:t> | August 2026</a:t>
            </a:r>
          </a:p>
        </p:txBody>
      </p:sp>
    </p:spTree>
    <p:extLst>
      <p:ext uri="{BB962C8B-B14F-4D97-AF65-F5344CB8AC3E}">
        <p14:creationId xmlns:p14="http://schemas.microsoft.com/office/powerpoint/2010/main" val="295124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395F5-FFC6-4013-8DB4-09FACBC57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98CAB-217B-4775-A56F-C7D1DB113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26.58% of customers churn annually</a:t>
            </a:r>
          </a:p>
          <a:p>
            <a:r>
              <a:rPr lang="en-US" dirty="0"/>
              <a:t>1,869 of 7,032customers lost</a:t>
            </a:r>
          </a:p>
          <a:p>
            <a:r>
              <a:rPr lang="en-US" dirty="0"/>
              <a:t>Approximately $20M in preventable revenue loss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2408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2483C-829E-4173-A899-1652382EE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CBEF4-3EF0-4BC3-AB9E-97B9BDEDE9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7,032 customer records analyzed</a:t>
            </a:r>
          </a:p>
          <a:p>
            <a:r>
              <a:rPr lang="en-US" dirty="0"/>
              <a:t>21 different data points per customer</a:t>
            </a:r>
          </a:p>
          <a:p>
            <a:r>
              <a:rPr lang="en-US" dirty="0"/>
              <a:t>Data quality score: 95/100</a:t>
            </a:r>
          </a:p>
          <a:p>
            <a:r>
              <a:rPr lang="en-US" dirty="0"/>
              <a:t>Analyzed demographics, services, contracts, and billing </a:t>
            </a:r>
          </a:p>
        </p:txBody>
      </p:sp>
    </p:spTree>
    <p:extLst>
      <p:ext uri="{BB962C8B-B14F-4D97-AF65-F5344CB8AC3E}">
        <p14:creationId xmlns:p14="http://schemas.microsoft.com/office/powerpoint/2010/main" val="1639323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1E078-E24D-4B2E-8423-FAD2D3BC8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#1: Contract Commitment Matters Most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0CE45-1161-4FB1-9320-C68CE200A9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Month-to-month contracts: 42.71% churn rate</a:t>
            </a:r>
          </a:p>
          <a:p>
            <a:r>
              <a:rPr lang="en-US" dirty="0"/>
              <a:t>One-year contracts: 11.28% churn rate</a:t>
            </a:r>
          </a:p>
          <a:p>
            <a:r>
              <a:rPr lang="en-US" dirty="0"/>
              <a:t>Two-year contracts: 2.85% churn rate</a:t>
            </a:r>
          </a:p>
          <a:p>
            <a:r>
              <a:rPr lang="en-US" dirty="0"/>
              <a:t>Month-to-month customers are 15x more likely to churn</a:t>
            </a:r>
          </a:p>
        </p:txBody>
      </p:sp>
    </p:spTree>
    <p:extLst>
      <p:ext uri="{BB962C8B-B14F-4D97-AF65-F5344CB8AC3E}">
        <p14:creationId xmlns:p14="http://schemas.microsoft.com/office/powerpoint/2010/main" val="3943924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26BA5-3B79-4549-987B-AEF2D468E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#2: Fiber Optic Service 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AB0D4-6B53-445B-A65A-0EFFE4715B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Fiber optic customers: 41.89% churn rate</a:t>
            </a:r>
          </a:p>
          <a:p>
            <a:r>
              <a:rPr lang="en-US" dirty="0"/>
              <a:t>DSL customers: 19.00% churn rate</a:t>
            </a:r>
          </a:p>
          <a:p>
            <a:r>
              <a:rPr lang="en-US" dirty="0"/>
              <a:t>No internet customers: 7.43% churn rate</a:t>
            </a:r>
          </a:p>
          <a:p>
            <a:r>
              <a:rPr lang="en-US" dirty="0"/>
              <a:t>Fiber represents 70% of all company churn</a:t>
            </a:r>
          </a:p>
          <a:p>
            <a:r>
              <a:rPr lang="en-US" dirty="0"/>
              <a:t>Despite premium pricing ($91.50 vs $58.09), Fiber customers leave more </a:t>
            </a:r>
          </a:p>
        </p:txBody>
      </p:sp>
    </p:spTree>
    <p:extLst>
      <p:ext uri="{BB962C8B-B14F-4D97-AF65-F5344CB8AC3E}">
        <p14:creationId xmlns:p14="http://schemas.microsoft.com/office/powerpoint/2010/main" val="3667966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A90F3-58ED-4ECD-876D-9B8095F5F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#3: The First 6 Months Are Critical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D2BC9-21A2-4E3F-97AC-57F66FA31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50% of all churn happens in the first 6 months</a:t>
            </a:r>
          </a:p>
          <a:p>
            <a:r>
              <a:rPr lang="en-US" dirty="0"/>
              <a:t>31% of customers are newer than 12 months </a:t>
            </a:r>
          </a:p>
          <a:p>
            <a:r>
              <a:rPr lang="en-US" dirty="0"/>
              <a:t>Suggests onboarding and early experience issues</a:t>
            </a:r>
          </a:p>
          <a:p>
            <a:r>
              <a:rPr lang="en-US" dirty="0"/>
              <a:t>New customer acquisition cost is wasted if they churn early </a:t>
            </a:r>
          </a:p>
        </p:txBody>
      </p:sp>
    </p:spTree>
    <p:extLst>
      <p:ext uri="{BB962C8B-B14F-4D97-AF65-F5344CB8AC3E}">
        <p14:creationId xmlns:p14="http://schemas.microsoft.com/office/powerpoint/2010/main" val="1597220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8733A-264A-4CA2-80D6-BB04E50B7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#4: Premium Customer Are At Risk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D27F5-6D2F-43F5-A48D-CCB8F01B7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High-price customers ($70-118/month): 31% churn</a:t>
            </a:r>
          </a:p>
          <a:p>
            <a:r>
              <a:rPr lang="en-US" dirty="0"/>
              <a:t>Mid-price customers ($40-70/month): 18% churn</a:t>
            </a:r>
          </a:p>
          <a:p>
            <a:r>
              <a:rPr lang="en-US" dirty="0"/>
              <a:t>Low-price customers ($20-40/month): 15% churn</a:t>
            </a:r>
          </a:p>
          <a:p>
            <a:r>
              <a:rPr lang="en-US" dirty="0"/>
              <a:t>Premium customers have 2x the churn of budget customers</a:t>
            </a:r>
          </a:p>
          <a:p>
            <a:r>
              <a:rPr lang="en-US" dirty="0"/>
              <a:t>Losing the most profitable customer segment</a:t>
            </a:r>
          </a:p>
        </p:txBody>
      </p:sp>
    </p:spTree>
    <p:extLst>
      <p:ext uri="{BB962C8B-B14F-4D97-AF65-F5344CB8AC3E}">
        <p14:creationId xmlns:p14="http://schemas.microsoft.com/office/powerpoint/2010/main" val="367939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86944-A5A0-48EA-81A3-0842E1A20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#5: Service Bundling Creates Loyalty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9B02D-1292-475A-B23D-97524DC731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Customer with 0 services: 21.5% churn</a:t>
            </a:r>
          </a:p>
          <a:p>
            <a:r>
              <a:rPr lang="en-US" dirty="0"/>
              <a:t>Customer with 1 services: 45.8% churn (highest risk)</a:t>
            </a:r>
          </a:p>
          <a:p>
            <a:r>
              <a:rPr lang="en-US" dirty="0"/>
              <a:t>Customer with 5 services:  12.5% churn</a:t>
            </a:r>
          </a:p>
          <a:p>
            <a:r>
              <a:rPr lang="en-US" dirty="0"/>
              <a:t>Customer with 6 services: 5.3% churn (most loyal)</a:t>
            </a:r>
          </a:p>
          <a:p>
            <a:r>
              <a:rPr lang="en-US" dirty="0"/>
              <a:t>More services = exponentially lower churn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9809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844E8-C3A5-4E0C-9FF6-D5C630D77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2929" y="365125"/>
            <a:ext cx="7274860" cy="1325563"/>
          </a:xfrm>
          <a:ln>
            <a:noFill/>
          </a:ln>
        </p:spPr>
        <p:txBody>
          <a:bodyPr/>
          <a:lstStyle/>
          <a:p>
            <a:r>
              <a:rPr lang="en-US" dirty="0"/>
              <a:t>Visual Summary: All Key Charts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65911A-3B5C-49B7-B71D-4515B903C1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621" y="1690688"/>
            <a:ext cx="8995410" cy="5005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8774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3D58B-0108-493E-A385-77D9EFE91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4364" y="365125"/>
            <a:ext cx="8525436" cy="1325563"/>
          </a:xfrm>
          <a:ln>
            <a:noFill/>
          </a:ln>
        </p:spPr>
        <p:txBody>
          <a:bodyPr/>
          <a:lstStyle/>
          <a:p>
            <a:r>
              <a:rPr lang="en-US" dirty="0"/>
              <a:t>Bonus Analysis: Correlation Heatmap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5787D8-9D44-4A96-81B6-084A7CA668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3061" y="1771650"/>
            <a:ext cx="8206740" cy="4922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016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184EB-B1BE-4A11-821F-583C26401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Critical Business Risks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20AF6-1E02-4332-A793-72F8AD42F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Risk 1: Month-to-month contract vulnerability ($15.2M at risk)</a:t>
            </a:r>
          </a:p>
          <a:p>
            <a:r>
              <a:rPr lang="en-US" dirty="0"/>
              <a:t>Risk 2: Fiber optic infrastructure under threat ($18M/year)</a:t>
            </a:r>
          </a:p>
          <a:p>
            <a:r>
              <a:rPr lang="en-US" dirty="0"/>
              <a:t>Risk 3: Premium customer segment exodus ($9.2M at risk)</a:t>
            </a:r>
          </a:p>
        </p:txBody>
      </p:sp>
    </p:spTree>
    <p:extLst>
      <p:ext uri="{BB962C8B-B14F-4D97-AF65-F5344CB8AC3E}">
        <p14:creationId xmlns:p14="http://schemas.microsoft.com/office/powerpoint/2010/main" val="35105620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A39A9-9C57-4030-90CE-33E2B3E12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Strategic Opportunities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B3F0A-8349-4E0E-B51A-8EF5E4E59E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Opportunity 1: Contract commitment program (+$7.5M)</a:t>
            </a:r>
          </a:p>
          <a:p>
            <a:r>
              <a:rPr lang="en-US" dirty="0"/>
              <a:t>Opportunity 2: Fiber optic recovery program (+$6.0M)</a:t>
            </a:r>
          </a:p>
          <a:p>
            <a:r>
              <a:rPr lang="en-US" dirty="0"/>
              <a:t>Opportunity 3: Service bundling strategy (+$3.2M)</a:t>
            </a:r>
          </a:p>
        </p:txBody>
      </p:sp>
    </p:spTree>
    <p:extLst>
      <p:ext uri="{BB962C8B-B14F-4D97-AF65-F5344CB8AC3E}">
        <p14:creationId xmlns:p14="http://schemas.microsoft.com/office/powerpoint/2010/main" val="5389521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F6F4F-C85A-4906-BC4B-FE5E98874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 #1: Fiber Optic Recovery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7DE8A-1863-427A-B2CF-EAB0EF3930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Action: Investigate and fix Fiber optic service quality</a:t>
            </a:r>
          </a:p>
          <a:p>
            <a:r>
              <a:rPr lang="en-US" dirty="0"/>
              <a:t>Why: Source of 70% of total churn</a:t>
            </a:r>
          </a:p>
          <a:p>
            <a:r>
              <a:rPr lang="en-US" dirty="0"/>
              <a:t>Impact: $6.0M revenue protection </a:t>
            </a:r>
          </a:p>
          <a:p>
            <a:r>
              <a:rPr lang="en-US" dirty="0"/>
              <a:t>Timeline: 60-90 days</a:t>
            </a:r>
          </a:p>
        </p:txBody>
      </p:sp>
    </p:spTree>
    <p:extLst>
      <p:ext uri="{BB962C8B-B14F-4D97-AF65-F5344CB8AC3E}">
        <p14:creationId xmlns:p14="http://schemas.microsoft.com/office/powerpoint/2010/main" val="22176577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54C4F-2359-4826-8A3E-ADFB8730E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 #2: Contract Commitment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671B2-4914-4804-B85B-EFC428E8B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Action: Offer discounts for annual contract commitments</a:t>
            </a:r>
          </a:p>
          <a:p>
            <a:r>
              <a:rPr lang="en-US" dirty="0"/>
              <a:t>Why: Month-to-month churn is 15X higher than 2-year</a:t>
            </a:r>
          </a:p>
          <a:p>
            <a:r>
              <a:rPr lang="en-US" dirty="0"/>
              <a:t>Impact: $7.5M revenue protection</a:t>
            </a:r>
          </a:p>
          <a:p>
            <a:r>
              <a:rPr lang="en-US" dirty="0"/>
              <a:t>Timeline: 30-45 days</a:t>
            </a:r>
          </a:p>
        </p:txBody>
      </p:sp>
    </p:spTree>
    <p:extLst>
      <p:ext uri="{BB962C8B-B14F-4D97-AF65-F5344CB8AC3E}">
        <p14:creationId xmlns:p14="http://schemas.microsoft.com/office/powerpoint/2010/main" val="3738641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9D112-607D-4EAA-8C73-2AECA4BBB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 #3: Service Bundling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24B2C-5854-4B75-BC29-223BF392D9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Action: Create attractive multi-service bundles</a:t>
            </a:r>
          </a:p>
          <a:p>
            <a:r>
              <a:rPr lang="en-US" dirty="0"/>
              <a:t>Why: Customers with 5+ services have only 5.3% churn</a:t>
            </a:r>
          </a:p>
          <a:p>
            <a:r>
              <a:rPr lang="en-US" dirty="0"/>
              <a:t>Impact: $3.2M revenue protection</a:t>
            </a:r>
          </a:p>
          <a:p>
            <a:r>
              <a:rPr lang="en-US" dirty="0"/>
              <a:t>Timeline: 60-90 days</a:t>
            </a:r>
          </a:p>
        </p:txBody>
      </p:sp>
    </p:spTree>
    <p:extLst>
      <p:ext uri="{BB962C8B-B14F-4D97-AF65-F5344CB8AC3E}">
        <p14:creationId xmlns:p14="http://schemas.microsoft.com/office/powerpoint/2010/main" val="33489284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5CC03-D847-416E-ADDD-24AAC5E53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 #4: Premium Customer VIP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D4836-DA6F-46E8-B841-40F7F47357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Action: Dedicated account managers for high-value customers</a:t>
            </a:r>
          </a:p>
          <a:p>
            <a:r>
              <a:rPr lang="en-US" dirty="0"/>
              <a:t>Why: Premium customers churn at 31% (losing top earners)</a:t>
            </a:r>
          </a:p>
          <a:p>
            <a:r>
              <a:rPr lang="en-US" dirty="0"/>
              <a:t>Impact: $1.8M revenue protection</a:t>
            </a:r>
          </a:p>
          <a:p>
            <a:r>
              <a:rPr lang="en-US" dirty="0"/>
              <a:t>Timeline: 30 days</a:t>
            </a:r>
          </a:p>
        </p:txBody>
      </p:sp>
    </p:spTree>
    <p:extLst>
      <p:ext uri="{BB962C8B-B14F-4D97-AF65-F5344CB8AC3E}">
        <p14:creationId xmlns:p14="http://schemas.microsoft.com/office/powerpoint/2010/main" val="39857939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AA7A0-4BD3-4435-BBB8-282F9DD46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 #5: New Customer Onboarding Excellence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7A502-A92F-45FA-84FE-41D1607758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Action: Proactive outreach and support in first 90 days</a:t>
            </a:r>
          </a:p>
          <a:p>
            <a:r>
              <a:rPr lang="en-US" dirty="0"/>
              <a:t>Why: 50% of churn happens in first 6 months</a:t>
            </a:r>
          </a:p>
          <a:p>
            <a:r>
              <a:rPr lang="en-US" dirty="0"/>
              <a:t>Impact: $1.0M revenue protection</a:t>
            </a:r>
          </a:p>
          <a:p>
            <a:r>
              <a:rPr lang="en-US" dirty="0"/>
              <a:t>Timeline: 45-60 days</a:t>
            </a:r>
          </a:p>
        </p:txBody>
      </p:sp>
    </p:spTree>
    <p:extLst>
      <p:ext uri="{BB962C8B-B14F-4D97-AF65-F5344CB8AC3E}">
        <p14:creationId xmlns:p14="http://schemas.microsoft.com/office/powerpoint/2010/main" val="9051363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86A4C-86D5-44C0-82CD-5BB407104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 #6: Payment Method Incentive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086DF-048C-4397-99EC-C80DB7EDA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Action: Incentivize switch from electronic check to autopay</a:t>
            </a:r>
          </a:p>
          <a:p>
            <a:r>
              <a:rPr lang="en-US" dirty="0"/>
              <a:t>Why: Electronic check users churn at 45.29% (highest risk)</a:t>
            </a:r>
          </a:p>
          <a:p>
            <a:r>
              <a:rPr lang="en-US" dirty="0"/>
              <a:t>Impact: $1.0M revenue protection</a:t>
            </a:r>
          </a:p>
          <a:p>
            <a:r>
              <a:rPr lang="en-US" dirty="0"/>
              <a:t>Timeline: 30 days</a:t>
            </a:r>
          </a:p>
        </p:txBody>
      </p:sp>
    </p:spTree>
    <p:extLst>
      <p:ext uri="{BB962C8B-B14F-4D97-AF65-F5344CB8AC3E}">
        <p14:creationId xmlns:p14="http://schemas.microsoft.com/office/powerpoint/2010/main" val="26596782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60D82-DED4-48F9-AC60-6C2C53FE7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Bottom 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49599-A9BF-43AD-BB2F-8715AD827D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Total Year 1 Impact: $20.5M revenue protection</a:t>
            </a:r>
          </a:p>
          <a:p>
            <a:r>
              <a:rPr lang="en-US" dirty="0"/>
              <a:t>Total Program Investment: $4.0M</a:t>
            </a:r>
          </a:p>
          <a:p>
            <a:r>
              <a:rPr lang="en-US" dirty="0"/>
              <a:t>Net Year 1 Benefit: $16.5M</a:t>
            </a:r>
          </a:p>
          <a:p>
            <a:r>
              <a:rPr lang="en-US" dirty="0"/>
              <a:t>Year 1 ROI: 512%</a:t>
            </a:r>
          </a:p>
          <a:p>
            <a:r>
              <a:rPr lang="en-US" dirty="0"/>
              <a:t>Target: Reduce churn from 26.58% to under 15% within 12 months</a:t>
            </a:r>
          </a:p>
        </p:txBody>
      </p:sp>
    </p:spTree>
    <p:extLst>
      <p:ext uri="{BB962C8B-B14F-4D97-AF65-F5344CB8AC3E}">
        <p14:creationId xmlns:p14="http://schemas.microsoft.com/office/powerpoint/2010/main" val="85319476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249</TotalTime>
  <Words>653</Words>
  <Application>Microsoft Office PowerPoint</Application>
  <PresentationFormat>Widescreen</PresentationFormat>
  <Paragraphs>85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Century Gothic</vt:lpstr>
      <vt:lpstr>Wingdings 3</vt:lpstr>
      <vt:lpstr>Ion</vt:lpstr>
      <vt:lpstr>Customer Churn Analysis: ABC Communications</vt:lpstr>
      <vt:lpstr>The Problem</vt:lpstr>
      <vt:lpstr>Our Dataset</vt:lpstr>
      <vt:lpstr>Finding #1: Contract Commitment Matters Most</vt:lpstr>
      <vt:lpstr>Finding #2: Fiber Optic Service Issues</vt:lpstr>
      <vt:lpstr>Finding #3: The First 6 Months Are Critical</vt:lpstr>
      <vt:lpstr>Finding #4: Premium Customer Are At Risk</vt:lpstr>
      <vt:lpstr>Finding #5: Service Bundling Creates Loyalty</vt:lpstr>
      <vt:lpstr>Visual Summary: All Key Charts</vt:lpstr>
      <vt:lpstr>Bonus Analysis: Correlation Heatmap</vt:lpstr>
      <vt:lpstr>Three Critical Business Risks</vt:lpstr>
      <vt:lpstr>Three Strategic Opportunities</vt:lpstr>
      <vt:lpstr>Recommendation #1: Fiber Optic Recovery</vt:lpstr>
      <vt:lpstr>Recommendation #2: Contract Commitment Program</vt:lpstr>
      <vt:lpstr>Recommendation #3: Service Bundling Strategy</vt:lpstr>
      <vt:lpstr>Recommendation #4: Premium Customer VIP Program</vt:lpstr>
      <vt:lpstr>Recommendation #5: New Customer Onboarding Excellence</vt:lpstr>
      <vt:lpstr>Recommendation #6: Payment Method Incentive Program</vt:lpstr>
      <vt:lpstr>The Bottom Line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Analysis: ABC Communications</dc:title>
  <dc:creator>okelatifah380@gmail.com</dc:creator>
  <cp:lastModifiedBy>okelatifah380@gmail.com</cp:lastModifiedBy>
  <cp:revision>11</cp:revision>
  <dcterms:created xsi:type="dcterms:W3CDTF">2026-08-05T19:11:24Z</dcterms:created>
  <dcterms:modified xsi:type="dcterms:W3CDTF">2026-08-05T23:22:26Z</dcterms:modified>
</cp:coreProperties>
</file>